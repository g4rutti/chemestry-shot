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</p:sldIdLst>
  <p:sldSz cx="9144000" cy="5143500" type="screen16x9"/>
  <p:notesSz cx="5143500" cy="9144000"/>
  <p:embeddedFontLst>
    <p:embeddedFont>
      <p:font typeface="Inter" panose="02000503000000020004" pitchFamily="2" charset="0"/>
      <p:regular r:id="rId18"/>
    </p:embeddedFont>
    <p:embeddedFont>
      <p:font typeface="Inter Bold" panose="02000503000000020004" pitchFamily="2" charset="0"/>
      <p:regular r:id="rId19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791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6062" y="849811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20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Reações Químicas e Propriedades das Substâncias</a:t>
            </a:r>
            <a:endParaRPr lang="en-US" sz="32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ACF08F5-1B59-898E-6071-BE8AE2D7D08D}"/>
              </a:ext>
            </a:extLst>
          </p:cNvPr>
          <p:cNvSpPr txBox="1"/>
          <p:nvPr/>
        </p:nvSpPr>
        <p:spPr>
          <a:xfrm>
            <a:off x="7424258" y="4613945"/>
            <a:ext cx="144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Líliam</a:t>
            </a:r>
            <a:r>
              <a:rPr lang="pt-BR" dirty="0"/>
              <a:t> Carmo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046"/>
            <a:ext cx="8151763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kern="0" spc="-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Classificação da Matéria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70" y="967265"/>
            <a:ext cx="6553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2260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8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Substâncias Puras vs. Misturas — Detalhamento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223888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Substâncias Puras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571402"/>
            <a:ext cx="390837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diferença fundamental está na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composição fixa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Substâncias puras possuem ponto de fusão e ebulição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constantes e bem definidos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 que permite sua identificação e caracterização precisa.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6119" y="2556421"/>
            <a:ext cx="3908375" cy="958304"/>
          </a:xfrm>
          <a:prstGeom prst="rect">
            <a:avLst/>
          </a:prstGeom>
          <a:noFill/>
          <a:ln/>
        </p:spPr>
        <p:txBody>
          <a:bodyPr wrap="square" lIns="0" tIns="54935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Silício grau eletrônico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pureza &gt;99,9999% para semicondutores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Água destilada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ponto de ebulição exato 100°C a 1 atm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Cobre puro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condutividade elétrica máxima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4269" y="1223888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Misturas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4269" y="1571402"/>
            <a:ext cx="3908375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Misturas fundem e fervem em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faixas de temperatura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não em pontos fixos. Sua composição é variável e suas propriedades dependem das proporções de cada componente.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44269" y="2340099"/>
            <a:ext cx="3908375" cy="1390948"/>
          </a:xfrm>
          <a:prstGeom prst="rect">
            <a:avLst/>
          </a:prstGeom>
          <a:noFill/>
          <a:ln/>
        </p:spPr>
        <p:txBody>
          <a:bodyPr wrap="square" lIns="0" tIns="54935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Aço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liga de Fe e C (mistura homogênea); propriedades ajustáveis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Concreto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cimento, areia, brita e água (mistura heterogênea)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Gasolina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mistura de hidrocarbonetos com faixa de ebulição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6119" y="3927202"/>
            <a:ext cx="8151763" cy="753963"/>
          </a:xfrm>
          <a:prstGeom prst="roundRect">
            <a:avLst>
              <a:gd name="adj" fmla="val 765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3" y="4117181"/>
            <a:ext cx="171599" cy="13729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42305" y="4094485"/>
            <a:ext cx="756828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engenharia, o controle da pureza e da composição de materiais é crítico para garantir desempenho e segurança estrutural.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28278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kern="0" spc="-7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Propriedades Físicas e Químicas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96119" y="1191444"/>
            <a:ext cx="4722763" cy="3323779"/>
          </a:xfrm>
          <a:prstGeom prst="roundRect">
            <a:avLst>
              <a:gd name="adj" fmla="val 159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500881" y="1196206"/>
            <a:ext cx="4713238" cy="1657127"/>
          </a:xfrm>
          <a:custGeom>
            <a:avLst/>
            <a:gdLst/>
            <a:ahLst/>
            <a:cxnLst/>
            <a:rect l="l" t="t" r="r" b="b"/>
            <a:pathLst>
              <a:path w="4713238" h="1657127">
                <a:moveTo>
                  <a:pt x="44192" y="0"/>
                </a:moveTo>
                <a:lnTo>
                  <a:pt x="4669046" y="0"/>
                </a:lnTo>
                <a:arcTo wR="44192" hR="44192" stAng="16200000" swAng="5400000"/>
                <a:lnTo>
                  <a:pt x="4713238" y="1657127"/>
                </a:lnTo>
                <a:lnTo>
                  <a:pt x="0" y="1657127"/>
                </a:lnTo>
                <a:lnTo>
                  <a:pt x="0" y="44192"/>
                </a:lnTo>
                <a:arcTo wR="44192" hR="44192" stAng="10800000" swAng="5400000"/>
                <a:close/>
              </a:path>
            </a:pathLst>
          </a:cu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27087" y="1322412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Propriedades Físicas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7087" y="1587103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Medidas </a:t>
            </a:r>
            <a:r>
              <a:rPr lang="en-US" sz="9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 alterar</a:t>
            </a: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identidade química da substância.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7087" y="1845469"/>
            <a:ext cx="4460825" cy="881658"/>
          </a:xfrm>
          <a:prstGeom prst="rect">
            <a:avLst/>
          </a:prstGeom>
          <a:noFill/>
          <a:ln/>
        </p:spPr>
        <p:txBody>
          <a:bodyPr wrap="square" lIns="0" tIns="50505" rIns="0" bIns="0" rtlCol="0" anchor="t">
            <a:normAutofit/>
          </a:bodyPr>
          <a:lstStyle/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Densidade (aço ≈ 7,85 g/cm³)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 de fusão e ebulição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Condutividade elétrica e térmica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Dureza e maleabilidade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0881" y="2853333"/>
            <a:ext cx="4713238" cy="1657127"/>
          </a:xfrm>
          <a:custGeom>
            <a:avLst/>
            <a:gdLst/>
            <a:ahLst/>
            <a:cxnLst/>
            <a:rect l="l" t="t" r="r" b="b"/>
            <a:pathLst>
              <a:path w="4713238" h="1657127">
                <a:moveTo>
                  <a:pt x="0" y="0"/>
                </a:moveTo>
                <a:lnTo>
                  <a:pt x="4713238" y="0"/>
                </a:lnTo>
                <a:lnTo>
                  <a:pt x="4713238" y="1612935"/>
                </a:lnTo>
                <a:arcTo wR="44192" hR="44192" stAng="0" swAng="5400000"/>
                <a:lnTo>
                  <a:pt x="44192" y="1657127"/>
                </a:lnTo>
                <a:arcTo wR="44192" hR="44192" stAng="5400000" swAng="5400000"/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00881" y="2853333"/>
            <a:ext cx="4713238" cy="14288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27087" y="2979539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Propriedades Químicas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7087" y="3244230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Descrevem a </a:t>
            </a:r>
            <a:r>
              <a:rPr lang="en-US" sz="9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capacidade de transformação</a:t>
            </a: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química da substância.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27087" y="3502596"/>
            <a:ext cx="4460825" cy="881658"/>
          </a:xfrm>
          <a:prstGeom prst="rect">
            <a:avLst/>
          </a:prstGeom>
          <a:noFill/>
          <a:ln/>
        </p:spPr>
        <p:txBody>
          <a:bodyPr wrap="square" lIns="0" tIns="50505" rIns="0" bIns="0" rtlCol="0" anchor="t">
            <a:normAutofit/>
          </a:bodyPr>
          <a:lstStyle/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Reatividade com ácidos ou bases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Inflamabilidade (ex: metano)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Resistência à oxidação (alumínio forma camada protetora de Al₂O₃)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Resistência à corrosão (inox vs. ferro)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267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Ligações Químicas e Propriedades dos Materiais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7917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tipo de ligação química determina diretamente as propriedades macroscópicas dos materiais — um conceito central na engenharia de materiais.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92275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42381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Ligação Iônica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730326"/>
            <a:ext cx="259913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Transferência de elétrons (ex: NaCl). Sólidos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quebradiços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alto ponto de fusão, conduzem eletricidade apenas no estado fundido ou em solução aquosa.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892275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42381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Ligação Covalente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2730326"/>
            <a:ext cx="259913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Compartilhamento de elétrons. Polar (HCl) ou apolar (Cl₂). Pode formar moléculas discretas (baixo PF) ou redes covalentes como o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diamante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(dureza extrema).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892275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42381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Ligação Metálica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2730326"/>
            <a:ext cx="259913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"Mar de elétrons" deslocalizados. Resulta em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alta condutividade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elétrica e térmica, maleabilidade e ductilidade — propriedades essenciais em engenharia elétrica e estrutural.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96119" y="4023866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77" y="4224635"/>
            <a:ext cx="177180" cy="1417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6816" y="4201046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eletronegatividade dos átomos é o principal fator que determina o tipo de ligação formada entre eles.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131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Tipos de Sólidos Cristalinos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5782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estrutura interna de um sólido define suas propriedades. Engenheiros precisam conhecer esses tipos para selecionar materiais adequados a cada aplicação.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70918"/>
            <a:ext cx="8151763" cy="2741265"/>
          </a:xfrm>
          <a:prstGeom prst="roundRect">
            <a:avLst>
              <a:gd name="adj" fmla="val 217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96119" y="2284512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96119" y="2922538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96119" y="3333750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96119" y="397177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2789" y="1965499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71192" y="1965499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Partículas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99595" y="1965499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Forças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42236" y="1965499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Propriedades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89" y="2376711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Iônico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71192" y="2376711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Íons + e 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99595" y="2376711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Eletrostática (Coulomb)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2236" y="2376711"/>
            <a:ext cx="21591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Duro, quebradiço, alto PF, condutor fundido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789" y="3014737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Molecular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71192" y="3014737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Moléculas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99595" y="3014737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Dipolo, ligação H, London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42236" y="3014737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Macio, baixo PF, isolante elétrico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789" y="3425949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Covalente/Rede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71192" y="3425949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Átomos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99595" y="3425949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Ligações covalentes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42236" y="3425949"/>
            <a:ext cx="21591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 duro, PF altíssimo (diamante, SiO₂)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2789" y="4063975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Metálico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71192" y="4063975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Cátions + e⁻ livres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99595" y="4063975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Ligação metálica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42236" y="4063975"/>
            <a:ext cx="21591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Lustroso, condutor, dúctil, maleável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8905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kern="0" spc="-7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Forças Intermoleculares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934045"/>
            <a:ext cx="4722763" cy="10441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6139" y="1067916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Dipolo-Dipolo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116139" y="1315269"/>
            <a:ext cx="4397871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Atração entre moléculas </a:t>
            </a:r>
            <a:r>
              <a:rPr lang="en-US" sz="90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polares</a:t>
            </a:r>
            <a:r>
              <a:rPr lang="en-US" sz="9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Ocorre quando centros de carga positiva e negativa não coincidem. Ex: HCl, SO₂. Intensidade moderada; influencia ponto de ebulição.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079129"/>
            <a:ext cx="4722763" cy="10441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6139" y="2213000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Ligação de Hidrogênio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116139" y="2460352"/>
            <a:ext cx="4397871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Força </a:t>
            </a:r>
            <a:r>
              <a:rPr lang="en-US" sz="90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mais intensa</a:t>
            </a:r>
            <a:r>
              <a:rPr lang="en-US" sz="9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 moléculas. Ocorre quando H está ligado a N, O ou F. Responsável pelas propriedades anômalas da água: alto ponto de ebulição (100°C) e tensão superficial elevada.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224213"/>
            <a:ext cx="4722763" cy="10441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16139" y="3358083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Forças de London (Dispersão)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116139" y="3605436"/>
            <a:ext cx="4397871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Presentes em </a:t>
            </a:r>
            <a:r>
              <a:rPr lang="en-US" sz="90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todas</a:t>
            </a:r>
            <a:r>
              <a:rPr lang="en-US" sz="9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substâncias, mas dominantes em moléculas apolares. Originadas por dipolos instantâneos. Aumentam com a massa molar e o tamanho da molécula.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3925119" y="4381872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Princípio geral: </a:t>
            </a:r>
            <a:r>
              <a:rPr lang="en-US" sz="90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quanto mais fortes as forças intermoleculares, maior o ponto de ebulição e menor a pressão de vapor</a:t>
            </a:r>
            <a:r>
              <a:rPr lang="en-US" sz="9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 substância líquida.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16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Líquidos e Mudanças de Estado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903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Propriedades dos Líquidos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32248"/>
            <a:ext cx="3902943" cy="2190006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Pressão de vapor: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pressão exercida pelo vapor em equilíbrio com o líquido. Depende da temperatura e das forças intermoleculares.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Ponto de ebulição: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temperatura em que a pressão de vapor iguala a pressão externa. Varia com altitude.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Tensão superficial: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resistência da superfície a ser deformada (maior na água pela ligação H).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Viscosidade: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resistência ao escoamento — fundamental em lubrificantes e fluidos hidráulicos.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66903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Mudanças de Estado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2049959"/>
            <a:ext cx="3902943" cy="15300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43170" y="2124994"/>
            <a:ext cx="714455" cy="229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700" b="1" kern="0" spc="-2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Sólido → Fusão → Líquido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844648" y="2124994"/>
            <a:ext cx="714455" cy="344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kern="0" spc="-2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Líquido → Vaporização → Gás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7844648" y="3160444"/>
            <a:ext cx="714455" cy="344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kern="0" spc="-2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Gás → Condensação → Líquido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843170" y="3160444"/>
            <a:ext cx="714455" cy="344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700" b="1" kern="0" spc="-2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Líquido → Solidificação/Sublimação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456084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8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Diagramas de Fases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25119" y="1084734"/>
            <a:ext cx="4722763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diagrama de fases (P × T) mostra em quais condições uma substância existe como sólido, líquido ou gás. Duas regiões são especialmente importantes: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25119" y="1883346"/>
            <a:ext cx="2294855" cy="1660029"/>
          </a:xfrm>
          <a:prstGeom prst="roundRect">
            <a:avLst>
              <a:gd name="adj" fmla="val 34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067175" y="2025402"/>
            <a:ext cx="20107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Ponto Triplo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7175" y="2319710"/>
            <a:ext cx="2010742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Condição única de pressão e temperatura em que as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três fases coexistem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equilíbrio. Para a água: 0,006 atm e 0,01°C.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2952" y="1883346"/>
            <a:ext cx="2294930" cy="1660029"/>
          </a:xfrm>
          <a:prstGeom prst="roundRect">
            <a:avLst>
              <a:gd name="adj" fmla="val 34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495008" y="2025402"/>
            <a:ext cx="201081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Ponto Crítico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5008" y="2319710"/>
            <a:ext cx="2010817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Acima deste ponto, líquido e gás tornam-se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indistinguíveis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estado de fluido supercrítico. CO₂ supercrítico é usado em extração de cafeína.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25119" y="3676352"/>
            <a:ext cx="4722763" cy="1011064"/>
          </a:xfrm>
          <a:prstGeom prst="roundRect">
            <a:avLst>
              <a:gd name="adj" fmla="val 57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067175" y="3818409"/>
            <a:ext cx="443865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Aplicação Prática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67175" y="4112716"/>
            <a:ext cx="443865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altitudes elevadas, a pressão atmosférica é menor, portanto a água ferve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abaixo de 100°C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afetando processos industriais e culinários.</a:t>
            </a:r>
            <a:endParaRPr lang="en-US" sz="1050" dirty="0"/>
          </a:p>
        </p:txBody>
      </p:sp>
      <p:pic>
        <p:nvPicPr>
          <p:cNvPr id="14" name="Imagem 13" descr="Estados físicos da água: quais são? - Brasil Escola">
            <a:extLst>
              <a:ext uri="{FF2B5EF4-FFF2-40B4-BE49-F238E27FC236}">
                <a16:creationId xmlns:a16="http://schemas.microsoft.com/office/drawing/2014/main" id="{2EFF0984-FE33-C977-618B-20AE6DEBB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67" y="885230"/>
            <a:ext cx="3512016" cy="35120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068934"/>
            <a:ext cx="472276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b="1" kern="0" spc="-11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Reações Químicas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496119" y="289292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Reorganização de átomos que transforma reagentes em produtos — a base de todos os processos químicos e industriais.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1356" y="116412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Lei de Conservação das Massas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1356" y="1703463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Enunciada por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Lavoisier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"Na natureza, nada se cria, nada se perde, tudo se transforma." Em uma reação química, a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massa total dos reagentes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igual à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massa total dos produtos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Por isso, as equações químicas devem ser obrigatoriamente balanceadas.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66541" y="3693421"/>
            <a:ext cx="5443984" cy="752967"/>
          </a:xfrm>
          <a:prstGeom prst="roundRect">
            <a:avLst>
              <a:gd name="adj" fmla="val 763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246585" y="3829794"/>
            <a:ext cx="544398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Reagentes → Produtos. </a:t>
            </a: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kern="0" spc="-22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</a:t>
            </a:r>
            <a:r>
              <a:rPr lang="en-US" sz="110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átomos são reorganizados, nunca criados ou destruídos.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3" y="116412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Elementos de uma Equação Química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9703" y="1646534"/>
            <a:ext cx="3902943" cy="1785938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Fórmulas dos reagentes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(lado esquerdo)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Seta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indicando sentido da reação (→)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Fórmulas dos produtos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(lado direito)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Coeficientes estequiométricos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balanceiam a equação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Estados físicos: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(s) sólido, (l) líquido, (g) gasoso, (aq) aquoso</a:t>
            </a:r>
            <a:endParaRPr lang="en-US" sz="11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D51BD82F-D881-7B18-1464-91362B84AFFE}"/>
              </a:ext>
            </a:extLst>
          </p:cNvPr>
          <p:cNvSpPr/>
          <p:nvPr/>
        </p:nvSpPr>
        <p:spPr>
          <a:xfrm>
            <a:off x="2210618" y="234863"/>
            <a:ext cx="472276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850" b="1" kern="0" spc="-11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Reações Químicas</a:t>
            </a:r>
            <a:endParaRPr lang="en-US" sz="3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153" y="262048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b="1" kern="0" spc="-5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Classificação das Reações Químicas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731862"/>
            <a:ext cx="86089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Conhecer o tipo de reação orienta a previsão de produtos e o controle de processos industriais.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47006"/>
            <a:ext cx="8151763" cy="558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9497" y="1238845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kern="0" spc="-3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38733" y="1149548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Síntese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38733" y="1331491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+ B → AB. Formação de produto único a partir de dois ou mais reagentes. </a:t>
            </a:r>
            <a:r>
              <a:rPr lang="en-US" sz="1000" i="1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Ex: 2H₂ + O₂ → 2H₂O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66205"/>
            <a:ext cx="8151763" cy="558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9497" y="1858045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kern="0" spc="-3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38733" y="1768748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Decomposição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38733" y="1950690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 → A + B. Uma substância gera dois ou mais produtos. </a:t>
            </a:r>
            <a:r>
              <a:rPr lang="en-US" sz="1000" i="1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Ex: CaCO₃ → CaO + CO₂ (produção de cal viva)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85405"/>
            <a:ext cx="8151763" cy="5581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9497" y="2477244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kern="0" spc="-3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938733" y="2387947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Simples Troca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938733" y="2569890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+ BC → AC + B. Elemento livre substitui outro em composto. </a:t>
            </a:r>
            <a:r>
              <a:rPr lang="en-US" sz="1000" i="1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Ex: Zn + 2HCl → ZnCl₂ + H₂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904604"/>
            <a:ext cx="8151763" cy="5581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497" y="3096444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kern="0" spc="-3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938733" y="3007147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Dupla Troca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938733" y="3189089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 + CD → AD + CB. Troca de parceiros entre dois compostos iônicos, gerando precipitado ou gás.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523804"/>
            <a:ext cx="8151763" cy="5581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9497" y="3715643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kern="0" spc="-3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938733" y="3626346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Combustão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938733" y="3808288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Reação com O₂, liberando CO₂, H₂O e energia. </a:t>
            </a:r>
            <a:r>
              <a:rPr lang="en-US" sz="1000" i="1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Ex: C₃H₈ + 5O₂ → 3CO₂ + 4H₂O</a:t>
            </a:r>
            <a:endParaRPr lang="en-US" sz="10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143003"/>
            <a:ext cx="8151763" cy="5581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9497" y="4334842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kern="0" spc="-3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938733" y="4245546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Neutralização / Redox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938733" y="4427488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Neutralização: ácido + base → sal + água. Redox: transferência de elétrons, essencial na corrosão e em baterias.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41412"/>
            <a:ext cx="4722763" cy="449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kern="0" spc="-7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Estequiometria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96119" y="1179194"/>
            <a:ext cx="2298278" cy="3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b="1" kern="0" spc="-9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6,02×10²³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496119" y="1709394"/>
            <a:ext cx="22982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Número de Avogadro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96119" y="1956746"/>
            <a:ext cx="229827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Quantidade de partículas em 1 mol de qualquer substância.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920529" y="1179194"/>
            <a:ext cx="2298353" cy="3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b="1" kern="0" spc="-9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 mol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2920529" y="1709394"/>
            <a:ext cx="229835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Quantidade de Referência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920529" y="1956746"/>
            <a:ext cx="229835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Unidade que conecta a escala atômica à escala macroscópica (em gramas).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708324" y="2653680"/>
            <a:ext cx="2298278" cy="3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b="1" kern="0" spc="-9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Massa Molar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1708324" y="3143180"/>
            <a:ext cx="22982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g/mol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708324" y="3390532"/>
            <a:ext cx="229827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0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Massa de 1 mol de substância, numericamente igual à massa atômica/molecular.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8541" y="4128166"/>
            <a:ext cx="4891711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estequiometria usa os </a:t>
            </a:r>
            <a:r>
              <a:rPr lang="en-US" sz="100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coeficientes da equação balanceada</a:t>
            </a:r>
            <a:r>
              <a:rPr lang="en-US" sz="10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estabelecer relações de proporção em mol (e depois em gramas) entre reagentes e produtos. É a ferramenta central para dimensionar processos industriais.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79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Reagente Limitante e Rendimento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6530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é o Reagente Limitante?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28515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o reagente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totalmente consumido primeiro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que determina a quantidade máxima de produto obtida. Os demais reagentes ficam em excesso. O controle do reagente limitante é fundamental para a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eficiência econômica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processos industriais.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20434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Rendimento da Reação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567559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rendimento real raramente é 100% devido a reações secundárias, perdas e equilíbrios. O rendimento percentual mede a eficiência do processo.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7605" y="1423541"/>
            <a:ext cx="4107135" cy="2952006"/>
          </a:xfrm>
          <a:prstGeom prst="roundRect">
            <a:avLst>
              <a:gd name="adj" fmla="val 3458"/>
            </a:avLst>
          </a:prstGeom>
          <a:solidFill>
            <a:srgbClr val="1A6B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789363" y="1565300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Industrial — Alto-Forno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9363" y="1928515"/>
            <a:ext cx="3823618" cy="1970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kern="0" spc="-2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Produção de ferro gusa: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kern="0" spc="-2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Fe₂O₃ + 3CO → 2Fe + 3CO₂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kern="0" spc="-2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controle estequiométrico preciso da proporção entre minério de ferro e coque garante máxima produção de ferro com </a:t>
            </a:r>
            <a:r>
              <a:rPr lang="en-US" sz="1100" b="1" kern="0" spc="-2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mínimo desperdício</a:t>
            </a:r>
            <a:r>
              <a:rPr lang="en-US" sz="1100" kern="0" spc="-2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matéria-prima e energia.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Excesso de CO₂ sinaliza excesso de coque; excesso de Fe₂O₃ indica coque insuficiente.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798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Exercícios de Fixação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04491"/>
            <a:ext cx="2622724" cy="3061022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56927" y="1565300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Exercício 1 — Balanceamento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6927" y="2093268"/>
            <a:ext cx="2301106" cy="1842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kern="0" spc="-22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Faça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</a:t>
            </a:r>
            <a:r>
              <a:rPr lang="en-US" sz="1100" kern="0" spc="-22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balanceamento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 equação da combustão completa do propano (C₃H₈):</a:t>
            </a:r>
            <a:endParaRPr lang="en-US" sz="1100" dirty="0"/>
          </a:p>
          <a:p>
            <a:pPr marL="0" indent="0" algn="ctr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2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C₃H₈ + ? O₂ → ? CO₂ + ? H₂O</a:t>
            </a:r>
            <a:endParaRPr lang="en-US" sz="1200" dirty="0"/>
          </a:p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404491"/>
            <a:ext cx="2622724" cy="3061022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421410" y="1565300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Exercício 2 — Estequiometria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21410" y="2093268"/>
            <a:ext cx="2301106" cy="1757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Quantos gramas de cal viva (CaO) são obtidos pela decomposição de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 g de CaCO₃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puro?</a:t>
            </a:r>
            <a:endParaRPr lang="en-US" sz="1100" dirty="0"/>
          </a:p>
          <a:p>
            <a:pPr marL="0" indent="0" algn="ctr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2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CaCO₃ → CaO + CO₂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25083" y="1404491"/>
            <a:ext cx="2622724" cy="3061022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185892" y="1565300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Exercício 3 — Reagente Limitante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85892" y="2093268"/>
            <a:ext cx="2301106" cy="2211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g de H₂ reagem com 32 g de O₂. Qual o reagente limitante?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n(H₂) = 10/2 =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mol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n(O₂) = 32/32 =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 mol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2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2H₂ + O₂ → 2H₂O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1541</Words>
  <Application>Microsoft Macintosh PowerPoint</Application>
  <PresentationFormat>Apresentação na tela (16:9)</PresentationFormat>
  <Paragraphs>166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Inter</vt:lpstr>
      <vt:lpstr>Inter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Microsoft Office User</cp:lastModifiedBy>
  <cp:revision>2</cp:revision>
  <dcterms:created xsi:type="dcterms:W3CDTF">2026-08-12T20:24:54Z</dcterms:created>
  <dcterms:modified xsi:type="dcterms:W3CDTF">2026-08-12T20:45:53Z</dcterms:modified>
</cp:coreProperties>
</file>